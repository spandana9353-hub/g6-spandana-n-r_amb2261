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(kg/ha)</c:v>
                </c:pt>
                <c:pt idx="1">
                  <c:v>P (kg/ha)</c:v>
                </c:pt>
                <c:pt idx="2">
                  <c:v>K (kg/ha)</c:v>
                </c:pt>
                <c:pt idx="3">
                  <c:v>Yield (Q/ha)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50</c:v>
                </c:pt>
                <c:pt idx="2">
                  <c:v>45</c:v>
                </c:pt>
                <c:pt idx="3">
                  <c:v>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6F-4AF6-8738-D138E4D959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(kg/ha)</c:v>
                </c:pt>
                <c:pt idx="1">
                  <c:v>P (kg/ha)</c:v>
                </c:pt>
                <c:pt idx="2">
                  <c:v>K (kg/ha)</c:v>
                </c:pt>
                <c:pt idx="3">
                  <c:v>Yield (Q/ha)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</c:v>
                </c:pt>
                <c:pt idx="1">
                  <c:v>73</c:v>
                </c:pt>
                <c:pt idx="2">
                  <c:v>70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6F-4AF6-8738-D138E4D959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3E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D2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3D2B"/>
                </a:solidFill>
                <a:latin typeface="Arial"/>
              </a:rPr>
              <a:t>MAE &amp; RMSE by Model (Lower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SVR (RBF) ★</c:v>
                </c:pt>
                <c:pt idx="1">
                  <c:v>MLR</c:v>
                </c:pt>
                <c:pt idx="2">
                  <c:v>SLR</c:v>
                </c:pt>
                <c:pt idx="3">
                  <c:v>Decision Tree</c:v>
                </c:pt>
                <c:pt idx="4">
                  <c:v>ANN/MLP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2.4300000000000002</c:v>
                </c:pt>
                <c:pt idx="1">
                  <c:v>2.81</c:v>
                </c:pt>
                <c:pt idx="2">
                  <c:v>3</c:v>
                </c:pt>
                <c:pt idx="3">
                  <c:v>3.15</c:v>
                </c:pt>
                <c:pt idx="4">
                  <c:v>5.1100000000000003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DC-4DAC-8E9B-AC9CABD534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SVR (RBF) ★</c:v>
                </c:pt>
                <c:pt idx="1">
                  <c:v>MLR</c:v>
                </c:pt>
                <c:pt idx="2">
                  <c:v>SLR</c:v>
                </c:pt>
                <c:pt idx="3">
                  <c:v>Decision Tree</c:v>
                </c:pt>
                <c:pt idx="4">
                  <c:v>ANN/MLP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3.16</c:v>
                </c:pt>
                <c:pt idx="1">
                  <c:v>3.75</c:v>
                </c:pt>
                <c:pt idx="2">
                  <c:v>3.52</c:v>
                </c:pt>
                <c:pt idx="3">
                  <c:v>3.9</c:v>
                </c:pt>
                <c:pt idx="4">
                  <c:v>6.15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DC-4DAC-8E9B-AC9CABD534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3E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D2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3D2B"/>
                </a:solidFill>
                <a:latin typeface="Arial"/>
              </a:rPr>
              <a:t>Pearson Correlation with Yield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Yield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3D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Nitrogen (N)</c:v>
                </c:pt>
                <c:pt idx="1">
                  <c:v>Phosphorus (P)</c:v>
                </c:pt>
                <c:pt idx="2">
                  <c:v>Potassium (K)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</c:v>
                </c:pt>
                <c:pt idx="1">
                  <c:v>0.6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8E-4913-A63D-EB321F2349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3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36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C6E49">
              <a:alpha val="30000"/>
            </a:srgbClr>
          </a:solidFill>
          <a:ln w="12700">
            <a:solidFill>
              <a:srgbClr val="2C6E4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4C9A6A">
              <a:alpha val="25000"/>
            </a:srgbClr>
          </a:solidFill>
          <a:ln w="12700">
            <a:solidFill>
              <a:srgbClr val="4C9A6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731520" y="3840480"/>
            <a:ext cx="2560320" cy="2560320"/>
          </a:xfrm>
          <a:prstGeom prst="ellipse">
            <a:avLst/>
          </a:prstGeom>
          <a:solidFill>
            <a:srgbClr val="2C6E49">
              <a:alpha val="30000"/>
            </a:srgbClr>
          </a:solidFill>
          <a:ln w="12700">
            <a:solidFill>
              <a:srgbClr val="2C6E49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GKVK, BANGALORE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685800"/>
            <a:ext cx="2743200" cy="292608"/>
          </a:xfrm>
          <a:prstGeom prst="rect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685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EAI-421 | Application of AI &amp; 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97280"/>
            <a:ext cx="914400" cy="914400"/>
          </a:xfrm>
          <a:prstGeom prst="ellipse">
            <a:avLst/>
          </a:prstGeom>
          <a:solidFill>
            <a:srgbClr val="D4A017">
              <a:alpha val="85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🌽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MAIZE CROP YIELD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Algorithms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3090672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246120"/>
            <a:ext cx="6949440" cy="1188720"/>
          </a:xfrm>
          <a:prstGeom prst="rect">
            <a:avLst/>
          </a:prstGeom>
          <a:solidFill>
            <a:srgbClr val="2C6E49">
              <a:alpha val="70000"/>
            </a:srgbClr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331012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Dr. Sailaja Thota, REVA University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SRASHTI (AMB2264)   |   SPANDANA (AMB2261)   |   LATHASHREE T C (AMB2114)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91363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Year B.Sc. (Hons.) Agriculture  •  Group-6  •  2025-26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• Data-Driven Insights • Karnataka, India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🌽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288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2286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D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Maize Yield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8D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8D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32004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0" y="320040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3200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Introduction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2004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320040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00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3200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Problem Statement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1216152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1216152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21615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21615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Motivation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216152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16152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21615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121615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08960" y="211226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2112264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11226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21122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 Overview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26480" y="211226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112264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11226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21122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Methodology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08960" y="300837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08960" y="3008376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00837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11880" y="300837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Tools &amp; Technologies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300837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008376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00837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300837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Results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108960" y="3904488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08960" y="3904488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39044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11880" y="39044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Discussion &amp; Analysis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26480" y="3904488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3904488"/>
            <a:ext cx="457200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9044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400" y="39044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Conclusion &amp; Future Work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 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5120640" cy="868680"/>
          </a:xfrm>
          <a:prstGeom prst="rect">
            <a:avLst/>
          </a:prstGeom>
          <a:solidFill>
            <a:srgbClr val="F7F3E9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54864" cy="8686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22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🌽 Global Importance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(Zea mays L.) is one of the world's most widely cultivated cereal crops — food, feed, biofuel, and industrial products.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5120640" cy="868680"/>
          </a:xfrm>
          <a:prstGeom prst="rect">
            <a:avLst/>
          </a:prstGeom>
          <a:solidFill>
            <a:srgbClr val="F7F3E9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83080"/>
            <a:ext cx="54864" cy="8686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India's Position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ranks among top producers; Karnataka, Bihar &amp; Andhra Pradesh are major contributors. Yield is highly sensitive to NPK management.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5120640" cy="868680"/>
          </a:xfrm>
          <a:prstGeom prst="rect">
            <a:avLst/>
          </a:prstGeom>
          <a:solidFill>
            <a:srgbClr val="F7F3E9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88920"/>
            <a:ext cx="54864" cy="8686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Traditional Limitations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observation and historical averages are inaccurate — unable to capture complex non-linear soil–yield interactions.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5120640" cy="868680"/>
          </a:xfrm>
          <a:prstGeom prst="rect">
            <a:avLst/>
          </a:prstGeom>
          <a:solidFill>
            <a:srgbClr val="F7F3E9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94760"/>
            <a:ext cx="54864" cy="8686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AI/ML Solution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data-driven, real-time yield prediction and precision fertilizer management.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749808"/>
            <a:ext cx="3200400" cy="411480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822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🌽</a:t>
            </a:r>
            <a:endParaRPr lang="en-US" sz="7200" dirty="0"/>
          </a:p>
        </p:txBody>
      </p:sp>
      <p:sp>
        <p:nvSpPr>
          <p:cNvPr id="25" name="Shape 23"/>
          <p:cNvSpPr/>
          <p:nvPr/>
        </p:nvSpPr>
        <p:spPr>
          <a:xfrm>
            <a:off x="5669280" y="2240280"/>
            <a:ext cx="32004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86600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31821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86600" y="31821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Params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39867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86600" y="3986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solidFill>
            <a:srgbClr val="1A3D2B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04672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accurately can ML models predict maize crop yield using NPK soil nutrient data?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Methods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yield estimation uses manual observation and historical averages — cannot capture complex non-linear soil interactions.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924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field observations from Karnataka; 3 soil macronutrients (N, P, K); comparison of 5 supervised ML regression models.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46120"/>
            <a:ext cx="5029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3337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Need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576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accurate, and scalable prediction system is urgently needed to assist agricultural decision-making in India.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3337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6576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supervised ML regression models to NPK data and evaluate predictive performance using MAE, RMSE, R² metrics.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859536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8595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67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is a staple food and industrial crop — accurate yield prediction directly impacts food security and economic planning across India.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749808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859536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8595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Farming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167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mismanagement (over/under NPK application) leads to yield loss and environmental degradation. ML optimizes recommendations.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09360" y="749808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859536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8595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Focus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167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is a major maize-producing state — a data-driven prediction tool has immediate practical relevance for local farmers.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45920" y="265176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0" y="2761488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37360" y="3703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40690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contributes to precision agriculture, demonstrating the applicability of AI/ML in real-world farming scenarios.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2761488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0690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nutrient use through ML recommendations reduces input costs for farmers and decreases environmental impact.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Objectives of the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051560"/>
            <a:ext cx="0" cy="3657600"/>
          </a:xfrm>
          <a:prstGeom prst="line">
            <a:avLst/>
          </a:prstGeom>
          <a:noFill/>
          <a:ln w="25400">
            <a:solidFill>
              <a:srgbClr val="CCCCCC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502920" y="850392"/>
            <a:ext cx="640080" cy="6400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50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25880" y="804672"/>
            <a:ext cx="7498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25880" y="804672"/>
            <a:ext cx="54864" cy="6858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850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1430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real-world maize dataset with soil macronutrient (N, P, K) measurements and corresponding yield values; apply StandardScaler normalization.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627632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1581912"/>
            <a:ext cx="7498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25880" y="1581912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627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1920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supervised ML regression models: Simple LR, Multiple LR, SVR (RBF), Decision Tree Regressor, and ANN/MLP using scikit-learn.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404872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25880" y="2359152"/>
            <a:ext cx="7498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25880" y="2359152"/>
            <a:ext cx="54864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26974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MAE, MSE, RMSE, and R² Score on a held-out test set (20% split) to identify the best predictor.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18211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82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25880" y="3136392"/>
            <a:ext cx="7498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25880" y="3136392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474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GridSearchCV with 5-fold cross-validation on the SVR model across 96 hyperparameter combinations (C, ε, γ).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959352"/>
            <a:ext cx="640080" cy="6400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325880" y="3913632"/>
            <a:ext cx="7498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25880" y="3913632"/>
            <a:ext cx="54864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63040" y="3959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Insights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63040" y="42519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NPK-yield relationships using scatter plots, heatmaps, and bar charts to interpret model performance and feature importance.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658368"/>
          </a:xfrm>
          <a:prstGeom prst="rect">
            <a:avLst/>
          </a:prstGeom>
          <a:solidFill>
            <a:srgbClr val="F7F3E9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41248"/>
            <a:ext cx="475488" cy="475488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795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field observations, Karnataka, India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4114800" cy="658368"/>
          </a:xfrm>
          <a:prstGeom prst="rect">
            <a:avLst/>
          </a:prstGeom>
          <a:solidFill>
            <a:srgbClr val="F7F3E9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459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856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observations • 3 features (N, P, K) • 1 target (Yield)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114800" cy="658368"/>
          </a:xfrm>
          <a:prstGeom prst="rect">
            <a:avLst/>
          </a:prstGeom>
          <a:solidFill>
            <a:srgbClr val="F7F3E9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50592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⚗️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2404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 soil nutrients (kg/ha) → Yield (quintals/ha)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63824"/>
            <a:ext cx="4114800" cy="658368"/>
          </a:xfrm>
          <a:prstGeom prst="rect">
            <a:avLst/>
          </a:prstGeom>
          <a:solidFill>
            <a:srgbClr val="F7F3E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5526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209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465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• 80/20 train-test split (12/3 samples)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968496"/>
            <a:ext cx="4114800" cy="658368"/>
          </a:xfrm>
          <a:prstGeom prst="rect">
            <a:avLst/>
          </a:prstGeom>
          <a:solidFill>
            <a:srgbClr val="F7F3E9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059936"/>
            <a:ext cx="475488" cy="475488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014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270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• Varied NPK combinations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Ranges in Dataset</a:t>
            </a:r>
            <a:endParaRPr lang="en-US" sz="13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4572000" y="1143000"/>
          <a:ext cx="4297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4572000" y="4251960"/>
            <a:ext cx="4297680" cy="502920"/>
          </a:xfrm>
          <a:prstGeom prst="rect">
            <a:avLst/>
          </a:prstGeom>
          <a:solidFill>
            <a:srgbClr val="1A3D2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17720" y="4251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 shows strongest positive correlation with yield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🗃️  Dataset — NPK Soil Nutrient Data (Karnataka)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1148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S.No.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 (kg/ha)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 (kg/ha)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 (kg/ha)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3D2B"/>
                          </a:solidFill>
                        </a:rPr>
                        <a:t>Yield (Q/ha)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52.3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55.1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58.2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53.7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56.4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45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48.5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59.3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55.8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53.2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57.6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49.2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 Methodology /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2651760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maize field records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0025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Karnataka, India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 + Yield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1668780"/>
            <a:ext cx="274320" cy="0"/>
          </a:xfrm>
          <a:prstGeom prst="line">
            <a:avLst/>
          </a:prstGeom>
          <a:noFill/>
          <a:ln w="19050">
            <a:solidFill>
              <a:srgbClr val="2C6E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627632"/>
            <a:ext cx="45720" cy="822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777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20025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train / 3 test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52160" y="1668780"/>
            <a:ext cx="2743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627632"/>
            <a:ext cx="4572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777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777240"/>
            <a:ext cx="26517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Step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20025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83464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Step 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3383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5760" y="38130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SLR, MLR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SVR-RBF, DTR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306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ANN/MLP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0" y="3726180"/>
            <a:ext cx="27432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3685032"/>
            <a:ext cx="4572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2834640"/>
            <a:ext cx="26517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Step 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91840" y="3383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291840" y="38130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9184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91840" y="4306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combinations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52160" y="3726180"/>
            <a:ext cx="2743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3685032"/>
            <a:ext cx="4572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2834640"/>
            <a:ext cx="26517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Step 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17920" y="3383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217920" y="38130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R²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17920" y="4306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 Tools and Technologies Used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05840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841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20700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data manipulation, modeling, and visualization.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005840"/>
            <a:ext cx="713232" cy="7132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005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841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120700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(SLR, MLR, SVR, DTR, ANN), GridSearchCV, StandardScaler, train_test_split, metrics.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6712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423160"/>
            <a:ext cx="713232" cy="713232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23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26243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handling, numerical operations, array manipulation, and data preprocessing.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16712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2423160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423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69280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6243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scatter plots, histograms, boxplots, correlation heatmaps, bar charts.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840480"/>
            <a:ext cx="713232" cy="7132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840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34440" y="36758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04164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environment for experimentation and visualization.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58444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3840480"/>
            <a:ext cx="713232" cy="71323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840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669280" y="36758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0" y="404164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 Score from sklearn.metrics for comprehensive model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Results — Model Performance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49808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7498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Metrics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115568"/>
          <a:ext cx="3383280" cy="148132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SVR★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2.43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3.16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-4.28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SLR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3.52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-5.55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MLR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2.81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3.75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-6.41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DTR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3.90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-6.98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ANN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5.11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6.15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-17.87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32120" y="2743200"/>
            <a:ext cx="3383280" cy="1188720"/>
          </a:xfrm>
          <a:prstGeom prst="rect">
            <a:avLst/>
          </a:prstGeom>
          <a:solidFill>
            <a:srgbClr val="1A3D2B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577840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</a:t>
            </a:r>
            <a:endParaRPr lang="en-US" sz="1200" dirty="0"/>
          </a:p>
        </p:txBody>
      </p:sp>
      <p:sp>
        <p:nvSpPr>
          <p:cNvPr id="9" name="Text 8"/>
          <p:cNvSpPr/>
          <p:nvPr/>
        </p:nvSpPr>
        <p:spPr>
          <a:xfrm>
            <a:off x="5577840" y="3136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SVR with RBF Kernel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2.43 | RMSE: 3.16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4041648"/>
            <a:ext cx="859536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4069080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Negative R² values are expected with n=15 — small sample size limits generalization. All models still predict directionally correct. SVR-RBF outperforms all others.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Discussion /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49808"/>
          <a:ext cx="43891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749808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749808"/>
            <a:ext cx="54864" cy="6858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9472" y="859536"/>
            <a:ext cx="457200" cy="45720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9472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40680" y="804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SVR-RBF Advantage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40680" y="1088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due to ability to model non-linear NPK-yield relationships; generalizes well on small datasets with RBF kernel.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46320" y="1554480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554480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19472" y="166420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947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40680" y="1609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R² Explained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4068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15 samples, models cannot capture the true distribution. Test set generalization is fundamentally limited.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46320" y="2359152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2359152"/>
            <a:ext cx="54864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19472" y="246888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40680" y="24140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Limitation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4068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MLPRegressor failed to converge in 500 iterations; deep learning requires hundreds to thousands of samples.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846320" y="3163824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3163824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19472" y="327355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4068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vs SLR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40680" y="3502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features with n=15 introduces noise — bias-variance tradeoff means MLR performed worse than SLR.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46320" y="3968496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46320" y="3968496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19472" y="407822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1947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44068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SVR Params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40680" y="4306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found: C=0.1, ε=1.0, γ=scale across 96 combinations with 5-fold CV (CV R² = -5.72).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74320" y="3886200"/>
            <a:ext cx="4389120" cy="438912"/>
          </a:xfrm>
          <a:prstGeom prst="rect">
            <a:avLst/>
          </a:prstGeom>
          <a:solidFill>
            <a:srgbClr val="1A3D2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38862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has 0.98 correlation — by far the strongest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🏁  Conclusion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solidFill>
            <a:srgbClr val="2C6E49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CONCLUSIONS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52728"/>
            <a:ext cx="4114800" cy="777240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984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SVR with RBF kernel is the best-performing model for NPK-based maize yield prediction on small datasets.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67128"/>
            <a:ext cx="4114800" cy="777240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2128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ML pipeline demonstrated: data collection → preprocessing → EDA → training → tuning → evaluation.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081528"/>
            <a:ext cx="4114800" cy="777240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1272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 size (n=15) is the primary limitation; 500+ records would substantially improve model generalization.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solidFill>
            <a:srgbClr val="2C6E49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41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252728"/>
            <a:ext cx="4114800" cy="749808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98448"/>
            <a:ext cx="457200" cy="45720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🌧️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21808" y="129844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soil pH, rainfall, temperature, NDVI satellite indices to improve prediction accuracy.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114800" cy="749808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1808" y="219456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ensemble models (Random Forest, XGBoost, LightGBM) and LSTM deep learning.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044952"/>
            <a:ext cx="4114800" cy="749808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090672"/>
            <a:ext cx="457200" cy="45720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21808" y="30906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mobile/web app for farmers to input soil test results and receive yield predictions.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941064"/>
            <a:ext cx="4114800" cy="749808"/>
          </a:xfrm>
          <a:prstGeom prst="rect">
            <a:avLst/>
          </a:prstGeom>
          <a:solidFill>
            <a:srgbClr val="1E4D38"/>
          </a:solidFill>
          <a:ln w="12700">
            <a:solidFill>
              <a:srgbClr val="4C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986784"/>
            <a:ext cx="457200" cy="45720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21808" y="3986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values for SVR explainability; extend to ragi, jowar, paddy crops in Karnataka.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References / Acknowledgements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| G6 | UAS GKVK Bangalore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5029200" cy="347472"/>
          </a:xfrm>
          <a:prstGeom prst="rect">
            <a:avLst/>
          </a:prstGeom>
          <a:solidFill>
            <a:srgbClr val="1A3D2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References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61288"/>
            <a:ext cx="5029200" cy="457200"/>
          </a:xfrm>
          <a:prstGeom prst="rect">
            <a:avLst/>
          </a:prstGeom>
          <a:solidFill>
            <a:srgbClr val="F7F3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61288"/>
            <a:ext cx="347472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612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1161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Khanal et al. (2023) — ML for spatial prediction of soil properties. Computers &amp; Electronics in Agriculture.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682496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82496"/>
            <a:ext cx="347472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8249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" y="1682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Jeong et al. (2022) — SVR &amp; LSTM for maize yield prediction. PLOS ONE.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203704"/>
            <a:ext cx="5029200" cy="457200"/>
          </a:xfrm>
          <a:prstGeom prst="rect">
            <a:avLst/>
          </a:prstGeom>
          <a:solidFill>
            <a:srgbClr val="F7F3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03704"/>
            <a:ext cx="347472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0370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" y="2203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Tiwari &amp; Mishra (2023) — Comparative ML analysis for crop yield in India. J. Agricultural Informatics.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72491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24912"/>
            <a:ext cx="347472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2491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" y="2724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Klompenburg et al. (2020) — Systematic review of ML for crop yield. Computers &amp; Electronics in Agriculture.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5029200" cy="457200"/>
          </a:xfrm>
          <a:prstGeom prst="rect">
            <a:avLst/>
          </a:prstGeom>
          <a:solidFill>
            <a:srgbClr val="F7F3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46120"/>
            <a:ext cx="347472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46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Liakos et al. (2018) — Machine learning in agriculture: A review. Sensors.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67328"/>
            <a:ext cx="347472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7673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Bhojani &amp; Bhatt (2020) — SVR &amp; ANN for crop yield forecasting in Gujarat. Neural Computing &amp; Applications.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749808"/>
            <a:ext cx="3383280" cy="4023360"/>
          </a:xfrm>
          <a:prstGeom prst="rect">
            <a:avLst/>
          </a:prstGeom>
          <a:solidFill>
            <a:srgbClr val="1A3D2B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822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Acknowledgements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1691640"/>
            <a:ext cx="246888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1828800"/>
            <a:ext cx="640080" cy="6400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👩‍🏫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00800" y="1828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Sailaja Thota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Mentor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 University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2651760"/>
            <a:ext cx="640080" cy="6400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400800" y="2651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UAS, GKVK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2953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Support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0" y="3474720"/>
            <a:ext cx="640080" cy="6400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400800" y="3474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Friends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3776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support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encouragement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77840" y="4251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"Precision agriculture begins with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 data and intelligent models."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2C6E49">
              <a:alpha val="25000"/>
            </a:srgbClr>
          </a:solidFill>
          <a:ln w="12700">
            <a:solidFill>
              <a:srgbClr val="2C6E4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C6E49">
              <a:alpha val="25000"/>
            </a:srgbClr>
          </a:solidFill>
          <a:ln w="12700">
            <a:solidFill>
              <a:srgbClr val="2C6E49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457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🌽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493008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393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8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SRASHTI  •  SPANDANA  •  LATHASHREE T 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05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Group-6  |  IV Year B.Sc. (Hons.) Agriculture  |  2025-26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5001768"/>
            <a:ext cx="87782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Yield Prediction Using ML  |  EAI-421  |  UAS GKVK Bangalore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1707</Words>
  <Application>Microsoft Office PowerPoint</Application>
  <PresentationFormat>On-screen Show (16:9)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Maize Crop Yield Prediction Using ML</dc:title>
  <dc:subject>PptxGenJS Presentation</dc:subject>
  <dc:creator>PptxGenJS</dc:creator>
  <cp:lastModifiedBy>hp</cp:lastModifiedBy>
  <cp:revision>2</cp:revision>
  <dcterms:created xsi:type="dcterms:W3CDTF">2026-04-14T07:44:20Z</dcterms:created>
  <dcterms:modified xsi:type="dcterms:W3CDTF">2026-04-14T17:28:25Z</dcterms:modified>
</cp:coreProperties>
</file>